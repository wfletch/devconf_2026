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256" r:id="rId5"/>
    <p:sldId id="296" r:id="rId6"/>
    <p:sldId id="259" r:id="rId7"/>
    <p:sldId id="297" r:id="rId8"/>
    <p:sldId id="260" r:id="rId9"/>
    <p:sldId id="292" r:id="rId10"/>
    <p:sldId id="265" r:id="rId11"/>
    <p:sldId id="264" r:id="rId12"/>
    <p:sldId id="266" r:id="rId13"/>
    <p:sldId id="267" r:id="rId14"/>
    <p:sldId id="288" r:id="rId15"/>
    <p:sldId id="293" r:id="rId16"/>
    <p:sldId id="294" r:id="rId17"/>
    <p:sldId id="268" r:id="rId18"/>
    <p:sldId id="295" r:id="rId19"/>
    <p:sldId id="269" r:id="rId20"/>
    <p:sldId id="257" r:id="rId21"/>
    <p:sldId id="261" r:id="rId22"/>
    <p:sldId id="271" r:id="rId23"/>
    <p:sldId id="272" r:id="rId24"/>
    <p:sldId id="262" r:id="rId25"/>
    <p:sldId id="263" r:id="rId26"/>
    <p:sldId id="274" r:id="rId27"/>
    <p:sldId id="286" r:id="rId28"/>
    <p:sldId id="287" r:id="rId29"/>
    <p:sldId id="273" r:id="rId30"/>
    <p:sldId id="275" r:id="rId31"/>
    <p:sldId id="276" r:id="rId32"/>
    <p:sldId id="277" r:id="rId33"/>
    <p:sldId id="278" r:id="rId34"/>
    <p:sldId id="284" r:id="rId35"/>
    <p:sldId id="279" r:id="rId36"/>
    <p:sldId id="280" r:id="rId37"/>
    <p:sldId id="281" r:id="rId38"/>
    <p:sldId id="282" r:id="rId39"/>
    <p:sldId id="28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4" autoAdjust="0"/>
    <p:restoredTop sz="96279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2EEBA-E5AB-B949-AAD0-C27417493460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18198-40F7-7648-AA02-D9DB717E9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7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Pretty.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18198-40F7-7648-AA02-D9DB717E96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7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9426"/>
            <a:ext cx="9144000" cy="137629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3060" y="719592"/>
            <a:ext cx="3468757" cy="13875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/>
          <p:nvPr userDrawn="1"/>
        </p:nvCxnSpPr>
        <p:spPr>
          <a:xfrm>
            <a:off x="1524000" y="3227800"/>
            <a:ext cx="147761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38719"/>
            <a:ext cx="10515600" cy="9890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46E869-2120-214B-90FB-0C1F20D3D2D9}"/>
              </a:ext>
            </a:extLst>
          </p:cNvPr>
          <p:cNvSpPr/>
          <p:nvPr userDrawn="1"/>
        </p:nvSpPr>
        <p:spPr>
          <a:xfrm>
            <a:off x="0" y="397565"/>
            <a:ext cx="665922" cy="1152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986B-9314-744C-BE16-113191E9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83134-15BE-A546-B895-5BB473445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clock&#10;&#10;Description automatically generated">
            <a:extLst>
              <a:ext uri="{FF2B5EF4-FFF2-40B4-BE49-F238E27FC236}">
                <a16:creationId xmlns:a16="http://schemas.microsoft.com/office/drawing/2014/main" id="{3BC437F9-AC86-0540-9A0A-918D54864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5753" y="6356350"/>
            <a:ext cx="1558047" cy="346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11CC4-8B62-7746-AFD2-B61A06551784}"/>
              </a:ext>
            </a:extLst>
          </p:cNvPr>
          <p:cNvSpPr txBox="1"/>
          <p:nvPr userDrawn="1"/>
        </p:nvSpPr>
        <p:spPr>
          <a:xfrm>
            <a:off x="0" y="6611779"/>
            <a:ext cx="1689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  <a:latin typeface=""/>
              </a:rPr>
              <a:t>Copyright © 2024 HYENA 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A185E44-0C09-14A0-E3D9-47913D6DF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83355"/>
            <a:ext cx="50296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FA19DD11-D068-0E4A-8D95-134F79C17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1896" y="2004926"/>
            <a:ext cx="3095990" cy="123839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4" y="2004926"/>
            <a:ext cx="7644713" cy="8574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A black sign with white text&#10;&#10;Description automatically generated">
            <a:extLst>
              <a:ext uri="{FF2B5EF4-FFF2-40B4-BE49-F238E27FC236}">
                <a16:creationId xmlns:a16="http://schemas.microsoft.com/office/drawing/2014/main" id="{DD5F8470-FE18-4D4D-96A1-82AD7AB0A0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301" y="486131"/>
            <a:ext cx="5603429" cy="10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2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1896" y="2004926"/>
            <a:ext cx="3095990" cy="123839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4" y="1632694"/>
            <a:ext cx="7644713" cy="8574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A black sign with white text&#10;&#10;Description automatically generated">
            <a:extLst>
              <a:ext uri="{FF2B5EF4-FFF2-40B4-BE49-F238E27FC236}">
                <a16:creationId xmlns:a16="http://schemas.microsoft.com/office/drawing/2014/main" id="{DD5F8470-FE18-4D4D-96A1-82AD7AB0A0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301" y="486131"/>
            <a:ext cx="5603429" cy="10689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44D2B7-5F46-9E43-9FE9-7CB1A51022B9}"/>
              </a:ext>
            </a:extLst>
          </p:cNvPr>
          <p:cNvSpPr/>
          <p:nvPr userDrawn="1"/>
        </p:nvSpPr>
        <p:spPr>
          <a:xfrm>
            <a:off x="1079157" y="2501946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6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157" y="1851508"/>
            <a:ext cx="4506097" cy="63220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Hydrogen Energy Applications (Pty) Ltd</a:t>
            </a:r>
            <a:br>
              <a:rPr lang="en-GB" dirty="0"/>
            </a:br>
            <a:r>
              <a:rPr lang="en-GB" dirty="0"/>
              <a:t>Cape Town, South Africa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59329" y="1851508"/>
            <a:ext cx="2240320" cy="8961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>
            <a:cxnSpLocks/>
          </p:cNvCxnSpPr>
          <p:nvPr userDrawn="1"/>
        </p:nvCxnSpPr>
        <p:spPr>
          <a:xfrm>
            <a:off x="1190367" y="2620970"/>
            <a:ext cx="65079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157" y="491845"/>
            <a:ext cx="10515600" cy="98908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CONTACT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E6D18-B1BC-4047-A48F-8A8EC574B867}"/>
              </a:ext>
            </a:extLst>
          </p:cNvPr>
          <p:cNvSpPr/>
          <p:nvPr userDrawn="1"/>
        </p:nvSpPr>
        <p:spPr>
          <a:xfrm>
            <a:off x="1079157" y="2854290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72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157" y="1595221"/>
            <a:ext cx="4506097" cy="63220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Hydrogen Energy Applications (Pty) Ltd</a:t>
            </a:r>
            <a:br>
              <a:rPr lang="en-GB" dirty="0"/>
            </a:br>
            <a:r>
              <a:rPr lang="en-GB" dirty="0"/>
              <a:t>Cape Town, South Africa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59329" y="1672566"/>
            <a:ext cx="2240320" cy="8961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>
            <a:cxnSpLocks/>
          </p:cNvCxnSpPr>
          <p:nvPr userDrawn="1"/>
        </p:nvCxnSpPr>
        <p:spPr>
          <a:xfrm>
            <a:off x="1190367" y="2352326"/>
            <a:ext cx="65079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157" y="491845"/>
            <a:ext cx="10515600" cy="98908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CONTACT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E6D18-B1BC-4047-A48F-8A8EC574B867}"/>
              </a:ext>
            </a:extLst>
          </p:cNvPr>
          <p:cNvSpPr/>
          <p:nvPr userDrawn="1"/>
        </p:nvSpPr>
        <p:spPr>
          <a:xfrm>
            <a:off x="1079157" y="2501946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3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D7E81-4C5F-C249-A7E3-C83A54DF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8EBD-1F69-2247-8D90-C8A36DFB5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CF467E-D129-C34A-A3CD-CFF7DAF7C16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494886"/>
            <a:ext cx="643614" cy="95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3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1" r:id="rId5"/>
    <p:sldLayoutId id="214748366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AFB3FD-2D20-3405-AFBE-D99F4B0687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Breaking out of closed source.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3A31E-8C59-6255-DB79-2FBFF212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I’m not paying for HTTP.</a:t>
            </a:r>
          </a:p>
        </p:txBody>
      </p:sp>
    </p:spTree>
    <p:extLst>
      <p:ext uri="{BB962C8B-B14F-4D97-AF65-F5344CB8AC3E}">
        <p14:creationId xmlns:p14="http://schemas.microsoft.com/office/powerpoint/2010/main" val="302056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22A8-CB30-5277-61ED-1752D45D4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omic Sans MS" panose="030F0902030302020204" pitchFamily="66" charset="0"/>
              </a:rPr>
              <a:t>wtf?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2D7A5-6801-3A95-53AD-A611FC84E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8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6421-D797-2981-AF77-26562DD7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1868-2F46-7EA1-258E-96770905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Warren Fletcher</a:t>
            </a:r>
          </a:p>
          <a:p>
            <a:r>
              <a:rPr lang="en-US" dirty="0"/>
              <a:t>(Reformed) Web Scale Programmer ~ 10 years</a:t>
            </a:r>
          </a:p>
          <a:p>
            <a:r>
              <a:rPr lang="en-US" dirty="0" err="1"/>
              <a:t>Bsc</a:t>
            </a:r>
            <a:r>
              <a:rPr lang="en-US" dirty="0"/>
              <a:t>. in Electrical Engineering.</a:t>
            </a:r>
          </a:p>
          <a:p>
            <a:r>
              <a:rPr lang="en-US" dirty="0"/>
              <a:t>Staff Systems Engineer at HYENA ~  3 years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DF91-FF2A-67EA-2373-B42485A8D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4DA4-96F4-EB5E-D4A8-9C361C11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&lt;Fluff Slide About Me&gt;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909D2-129D-6166-5F67-A93F29900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Returned in 2023</a:t>
            </a:r>
          </a:p>
          <a:p>
            <a:r>
              <a:rPr lang="en-US" dirty="0"/>
              <a:t>&lt;Silly photo </a:t>
            </a:r>
            <a:r>
              <a:rPr lang="en-US"/>
              <a:t>of South </a:t>
            </a:r>
            <a:r>
              <a:rPr lang="en-US" dirty="0"/>
              <a:t>Africa&gt;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29C13-0A18-5AF6-B812-C15C00052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3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6CE9-538B-269A-41C7-3D290662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28E4-87D6-7E35-E2C0-4E576E2CE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Hydrogen Energy Applications</a:t>
            </a:r>
          </a:p>
          <a:p>
            <a:r>
              <a:rPr lang="en-US" dirty="0"/>
              <a:t>We make diesel-generator alternatives.</a:t>
            </a:r>
          </a:p>
          <a:p>
            <a:r>
              <a:rPr lang="en-US" dirty="0"/>
              <a:t>Cleaner, Quieter, Smarter.</a:t>
            </a:r>
          </a:p>
          <a:p>
            <a:r>
              <a:rPr lang="en-US" dirty="0"/>
              <a:t>Based in </a:t>
            </a:r>
            <a:r>
              <a:rPr lang="en-ZA" dirty="0"/>
              <a:t>Muizenberg</a:t>
            </a:r>
            <a:r>
              <a:rPr lang="en-US" dirty="0"/>
              <a:t>, Cape Town, South Africa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22499-2A9E-EA1E-31CC-2BC7E9325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5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1668-229E-4824-A9E9-C3D57DEB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81C5-A565-EA8F-6E28-A6C991BA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&lt;INSERT PHOTO OF HYENA STAFF&gt;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CD512-B424-A99D-07CB-09D724EDA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1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1794-8456-513A-C01F-874F78EF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8277-89B0-7E00-97AE-77A38294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convert the hydrogen in LPG to electricity via a fuel cell.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4C4DF-6B8C-6F7B-FD27-1FCB2AD1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0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F77F-1BC1-ACBD-E2E1-4BA87F9C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2EF27-2FD3-2B8F-3006-44CFEFBC2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a ‘</a:t>
            </a:r>
            <a:r>
              <a:rPr lang="en-US" dirty="0" err="1"/>
              <a:t>hardtech</a:t>
            </a:r>
            <a:r>
              <a:rPr lang="en-US" dirty="0"/>
              <a:t>’ spinout from UCT.</a:t>
            </a:r>
          </a:p>
          <a:p>
            <a:r>
              <a:rPr lang="en-US" dirty="0"/>
              <a:t>It hurts. It itches. It burns.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1FE13-8E62-DB72-767F-FBE2569D1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4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84C0-67ED-1165-4648-93E3C1BF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459E4-F49E-B916-3C28-6DB443DC7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controlling Hardware</a:t>
            </a:r>
          </a:p>
          <a:p>
            <a:r>
              <a:rPr lang="en-US" dirty="0"/>
              <a:t>Read Input -&gt; Process -&gt; Write Output</a:t>
            </a:r>
          </a:p>
          <a:p>
            <a:r>
              <a:rPr lang="en-US" dirty="0"/>
              <a:t>Everything is Async and Cyclical</a:t>
            </a:r>
          </a:p>
          <a:p>
            <a:r>
              <a:rPr lang="en-US" dirty="0"/>
              <a:t>Every cycle needs to start exactly ‘on time’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BAABA-6FA3-FC7E-C308-769CEAABD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4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DE82-8CDC-5F63-4404-64DB2028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223C0-C49C-972E-FFF7-FD5C2A413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entire industry (268 Billion USD 2025)</a:t>
            </a:r>
          </a:p>
          <a:p>
            <a:r>
              <a:rPr lang="en-US" dirty="0"/>
              <a:t>Started in the 1980s, and well, stayed there.</a:t>
            </a:r>
          </a:p>
          <a:p>
            <a:r>
              <a:rPr lang="en-US" dirty="0"/>
              <a:t>Think…. Huge Projects.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A1D71-6C74-904D-3F99-DEA32C50B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78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C9D-FB73-4C08-E398-5E4F292E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Telescopes</a:t>
            </a:r>
          </a:p>
        </p:txBody>
      </p:sp>
      <p:pic>
        <p:nvPicPr>
          <p:cNvPr id="6" name="Content Placeholder 5" descr="A large telescope under construction&#10;&#10;AI-generated content may be incorrect.">
            <a:extLst>
              <a:ext uri="{FF2B5EF4-FFF2-40B4-BE49-F238E27FC236}">
                <a16:creationId xmlns:a16="http://schemas.microsoft.com/office/drawing/2014/main" id="{140ABB28-C06A-B0B7-1F5C-6DA830855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571" y="1400967"/>
            <a:ext cx="8490857" cy="47761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8EB66-E99A-340F-1386-60E09385B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1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 descr="A large telescope under construction&#10;&#10;AI-generated content may be incorrect.">
            <a:extLst>
              <a:ext uri="{FF2B5EF4-FFF2-40B4-BE49-F238E27FC236}">
                <a16:creationId xmlns:a16="http://schemas.microsoft.com/office/drawing/2014/main" id="{52362143-28BF-5CC4-E1F5-A3B25AAA4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1" y="1400967"/>
            <a:ext cx="8490857" cy="47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E5B17B-084E-E296-0F7B-3244327A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Dams</a:t>
            </a:r>
          </a:p>
        </p:txBody>
      </p:sp>
      <p:pic>
        <p:nvPicPr>
          <p:cNvPr id="6" name="Content Placeholder 5" descr="A water flowing from a dam&#10;&#10;AI-generated content may be incorrect.">
            <a:extLst>
              <a:ext uri="{FF2B5EF4-FFF2-40B4-BE49-F238E27FC236}">
                <a16:creationId xmlns:a16="http://schemas.microsoft.com/office/drawing/2014/main" id="{D3C9C34C-8EC6-9E9C-C051-F55486859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5492"/>
          <a:stretch>
            <a:fillRect/>
          </a:stretch>
        </p:blipFill>
        <p:spPr>
          <a:xfrm>
            <a:off x="1850571" y="1400967"/>
            <a:ext cx="8490858" cy="47761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8542F-DAB3-2790-825E-F22F89513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70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40AC-3677-3E09-D3C8-17EF2A29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640D-7A87-2052-BE05-5DC0EF6D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&lt;INSERT PHOTO OF SEXY PROTOTYPE POWERPOD&gt;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84473-01C8-83B1-5B01-D43CF9C9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58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43B7-06B6-CFA0-8B6F-96BEA50E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Vendors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E9565-3356-C358-1644-59F3B22B0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A green logo with a white background&#10;&#10;AI-generated content may be incorrect.">
            <a:extLst>
              <a:ext uri="{FF2B5EF4-FFF2-40B4-BE49-F238E27FC236}">
                <a16:creationId xmlns:a16="http://schemas.microsoft.com/office/drawing/2014/main" id="{60965F02-6300-3EA2-0B1B-E56D2CDC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4"/>
          <a:stretch>
            <a:fillRect/>
          </a:stretch>
        </p:blipFill>
        <p:spPr>
          <a:xfrm>
            <a:off x="1118507" y="1690688"/>
            <a:ext cx="4431517" cy="1298122"/>
          </a:xfrm>
          <a:prstGeom prst="rect">
            <a:avLst/>
          </a:prstGeom>
        </p:spPr>
      </p:pic>
      <p:pic>
        <p:nvPicPr>
          <p:cNvPr id="8" name="Picture 7" descr="A black and brown text&#10;&#10;AI-generated content may be incorrect.">
            <a:extLst>
              <a:ext uri="{FF2B5EF4-FFF2-40B4-BE49-F238E27FC236}">
                <a16:creationId xmlns:a16="http://schemas.microsoft.com/office/drawing/2014/main" id="{26C3BFB9-5A40-C7C9-E798-CAED5170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312" y="1690688"/>
            <a:ext cx="5537200" cy="1041400"/>
          </a:xfrm>
          <a:prstGeom prst="rect">
            <a:avLst/>
          </a:prstGeom>
        </p:spPr>
      </p:pic>
      <p:pic>
        <p:nvPicPr>
          <p:cNvPr id="10" name="Picture 9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B0EC4FB9-CA87-40A5-FF03-8EB845680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3257241"/>
            <a:ext cx="4368800" cy="825976"/>
          </a:xfrm>
          <a:prstGeom prst="rect">
            <a:avLst/>
          </a:prstGeom>
        </p:spPr>
      </p:pic>
      <p:pic>
        <p:nvPicPr>
          <p:cNvPr id="12" name="Picture 11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76B034F9-D1C1-D102-6EC5-9A31266F2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212" y="3108299"/>
            <a:ext cx="4735286" cy="1123859"/>
          </a:xfrm>
          <a:prstGeom prst="rect">
            <a:avLst/>
          </a:prstGeom>
        </p:spPr>
      </p:pic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19289A8A-2618-73D5-07B7-2BD6895735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110" y="4260245"/>
            <a:ext cx="5442403" cy="18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5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0329-27A3-5FB7-11BD-E38C7713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Variety!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FC500-A73A-038F-6827-560621097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 descr="A cartoon of a person and person talking&#10;&#10;AI-generated content may be incorrect.">
            <a:extLst>
              <a:ext uri="{FF2B5EF4-FFF2-40B4-BE49-F238E27FC236}">
                <a16:creationId xmlns:a16="http://schemas.microsoft.com/office/drawing/2014/main" id="{C0A90680-C3EB-FF50-898A-9CD22CFE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494745"/>
            <a:ext cx="8039100" cy="455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37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9B09-9524-9E64-32EE-4FB8D4D8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 to Share (Your source)?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156D-8E3B-61A9-63F0-E1870BEA1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No.</a:t>
            </a:r>
          </a:p>
          <a:p>
            <a:r>
              <a:rPr lang="en-US" dirty="0"/>
              <a:t>Fragmented Communities (By Vendor)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5DC32-A432-F9DC-AE4D-C10D09C55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50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A3EE-E5BD-6ABE-EC3C-F53E8847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F2DBD-A45C-2B4A-5DF2-1098E6773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&lt;3 our vendors.</a:t>
            </a:r>
          </a:p>
          <a:p>
            <a:r>
              <a:rPr lang="en-US" dirty="0"/>
              <a:t>This practice is pervasive.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9640E-9DAA-2C87-51A2-9344D0863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78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BA2C-32A4-E0CA-0DC2-652FFFC7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5917-8937-06D2-D327-EDAF413B0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Specialized ‘hardened’ technology.</a:t>
            </a:r>
          </a:p>
          <a:p>
            <a:r>
              <a:rPr lang="en-US" dirty="0"/>
              <a:t>Debugging on a PLC is amazing.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0A42B-783C-3A53-F192-079D2B19D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86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14EF-6FFB-E055-B8A7-E80AFF5C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A380-0797-034B-FC2D-07BDCD65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your standard languages.</a:t>
            </a:r>
          </a:p>
          <a:p>
            <a:r>
              <a:rPr lang="en-US" dirty="0"/>
              <a:t>Everyone has their own take.</a:t>
            </a:r>
          </a:p>
          <a:p>
            <a:r>
              <a:rPr lang="en-US" dirty="0"/>
              <a:t>Support is limited</a:t>
            </a:r>
          </a:p>
          <a:p>
            <a:r>
              <a:rPr lang="en-US" dirty="0"/>
              <a:t>Who even learns this stuff?</a:t>
            </a:r>
          </a:p>
          <a:p>
            <a:r>
              <a:rPr lang="en-US" dirty="0"/>
              <a:t>Expensive.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4FE21-9862-F78C-ADEF-C7F96A0DA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3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CDA5-3CC5-4B99-BD4E-C8B4FA1F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Ugly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6713-E18F-4E5A-CA7B-D2B214CC0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Only (This is changing!)</a:t>
            </a:r>
          </a:p>
          <a:p>
            <a:r>
              <a:rPr lang="en-US" dirty="0"/>
              <a:t>Technology develops extremely slowly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A699-ED20-DAB2-96EB-5A42C626D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23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AE08-7DC9-4C97-1EDB-C5159451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Really Ugly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D51E3-275F-25E7-E1E3-784996E2E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Black Box Development.</a:t>
            </a:r>
          </a:p>
          <a:p>
            <a:r>
              <a:rPr lang="en-US" dirty="0"/>
              <a:t>‘</a:t>
            </a:r>
            <a:r>
              <a:rPr lang="en-US" dirty="0" err="1"/>
              <a:t>Error:Error</a:t>
            </a:r>
            <a:r>
              <a:rPr lang="en-US" dirty="0"/>
              <a:t>’.</a:t>
            </a:r>
          </a:p>
          <a:p>
            <a:r>
              <a:rPr lang="en-US" dirty="0"/>
              <a:t>Perpetual BSOD Loop.</a:t>
            </a:r>
          </a:p>
          <a:p>
            <a:r>
              <a:rPr lang="en-US" dirty="0"/>
              <a:t>Libraries are vendor-specific, if even available.</a:t>
            </a:r>
          </a:p>
          <a:p>
            <a:r>
              <a:rPr lang="en-US" dirty="0"/>
              <a:t>Testing is cumbersome.</a:t>
            </a:r>
          </a:p>
          <a:p>
            <a:r>
              <a:rPr lang="en-US" dirty="0"/>
              <a:t>Did I mention expensive?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E67E-C821-63D4-E778-78704F745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68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9C4A-D775-AE1F-3D91-2454EDC0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a price tag on this.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578D-5624-1F5F-0A25-C295CE176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0C7FF-7DC1-A717-611A-4BBC43E09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3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8638-5752-E552-1059-FC350878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is… ok (sort of)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0E6C-232A-A192-9D26-702D97503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is… hard. This stuff has material costs.</a:t>
            </a:r>
          </a:p>
          <a:p>
            <a:r>
              <a:rPr lang="en-US" dirty="0"/>
              <a:t>When a project is in the Millions of USD. What’s the problem?</a:t>
            </a:r>
          </a:p>
          <a:p>
            <a:r>
              <a:rPr lang="en-US" dirty="0"/>
              <a:t>Honestly, paid software comes with a lot of social expectations that tend to be enforced 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F2CA8-8DD3-12E8-0D16-42E11F522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78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D0C0-4A11-9DE3-AF34-A34EC6A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</a:t>
            </a:r>
            <a:r>
              <a:rPr lang="en-US" dirty="0" err="1"/>
              <a:t>Clippy</a:t>
            </a:r>
            <a:r>
              <a:rPr lang="en-US" dirty="0"/>
              <a:t> telling you to fuck off.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C12A-2CCB-2224-79C3-4B66E15BF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235E-0BBE-CD1D-F1D0-B8A590799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54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7332-B1E8-F04D-4DF4-6B66A9D5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3B41-A0BD-194A-99BA-4E723B0B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is… ok (sort of)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665-E8EC-0240-970B-1DAEFF7E4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is… hard. This stuff has material costs.</a:t>
            </a:r>
          </a:p>
          <a:p>
            <a:r>
              <a:rPr lang="en-US" dirty="0"/>
              <a:t>When a project is in the Millions of USD. What’s the problem?</a:t>
            </a:r>
          </a:p>
          <a:p>
            <a:r>
              <a:rPr lang="en-US" dirty="0"/>
              <a:t>Honestly, paid software comes with a lot of social expectations that tend to be enforced *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/>
              <a:t>*Microsoft excluded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1191E-2057-65BB-FD3B-4144CAE52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01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99810-7EB1-9C4D-2DC6-6CA09207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Licenses, Licenses, Licenses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A053-2BD0-9BBB-7811-6967C468B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... And this is where a line </a:t>
            </a:r>
            <a:r>
              <a:rPr lang="en-US" u="sng" dirty="0"/>
              <a:t>needs</a:t>
            </a:r>
            <a:r>
              <a:rPr lang="en-US" dirty="0"/>
              <a:t> to be drawn.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814A2-BD3A-E3D7-B1DA-365390D22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32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DF25-12E7-267A-DE86-D47ED6E5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Hotel California.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78C2-093E-E547-8B47-F920FE25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comfy.</a:t>
            </a:r>
          </a:p>
          <a:p>
            <a:r>
              <a:rPr lang="en-US" dirty="0"/>
              <a:t>It’s convenient.</a:t>
            </a:r>
          </a:p>
          <a:p>
            <a:r>
              <a:rPr lang="en-US" dirty="0"/>
              <a:t>And the more time you spend here, the more it’s going to cost.</a:t>
            </a:r>
          </a:p>
          <a:p>
            <a:r>
              <a:rPr lang="en-US" dirty="0"/>
              <a:t>And a lot of these costs are hidden.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41BF6-36F7-80F4-196F-B8933BEBE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4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23FD-9E43-BF8C-21C9-21BDB35A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Walled Garden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5B97-6984-3313-9395-2AAD23C7F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why we have so little open-source.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27E58-5446-D464-3FA7-889A2CF3F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02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3EC9-7BFD-4BD0-328F-0EA60B60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29C95-C08D-1E36-E14A-FB2E5EFA3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cannot, in good faith, continue.</a:t>
            </a:r>
          </a:p>
          <a:p>
            <a:r>
              <a:rPr lang="en-US" dirty="0"/>
              <a:t>But this is ‘the way it’s done’. Pay Up. Shut up.</a:t>
            </a:r>
          </a:p>
          <a:p>
            <a:r>
              <a:rPr lang="en-US" dirty="0"/>
              <a:t>* Insert German quote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0BAD-9909-CF63-CC44-356191DA6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34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2A6E-ECC9-75BE-47D1-F18059ED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rewrite!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FC4B-BA9E-99C0-3240-7339D095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you don’t*</a:t>
            </a:r>
          </a:p>
          <a:p>
            <a:r>
              <a:rPr lang="en-US" dirty="0"/>
              <a:t>You need to rewrite a part of this. But where?</a:t>
            </a:r>
          </a:p>
          <a:p>
            <a:endParaRPr lang="en-US" dirty="0"/>
          </a:p>
          <a:p>
            <a:r>
              <a:rPr lang="en-US" dirty="0"/>
              <a:t>*unless you’re windows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83B76-4454-C6C3-4DC2-27B549EC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4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F787-5AA6-7FE4-B251-1B86C423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rewrite?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A2E0-3B7B-C1CA-8417-67C7999B2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can’t put everything on commodity hardware.</a:t>
            </a:r>
          </a:p>
          <a:p>
            <a:r>
              <a:rPr lang="en-US" dirty="0"/>
              <a:t>We still need the Realtime control, But only for hardware IO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5F2DD-3421-F173-CFE4-6A1397972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60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82D6-F56E-7CE2-86E6-7B049586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Justify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064FA-FD05-7A9C-D961-AB6DA7754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money. Managers speak that language.</a:t>
            </a:r>
          </a:p>
          <a:p>
            <a:r>
              <a:rPr lang="en-US" dirty="0" err="1"/>
              <a:t>CapEx</a:t>
            </a:r>
            <a:r>
              <a:rPr lang="en-US" dirty="0"/>
              <a:t> cost per unit.</a:t>
            </a:r>
          </a:p>
          <a:p>
            <a:r>
              <a:rPr lang="en-US" dirty="0"/>
              <a:t>Reinventing (Many) wheels.</a:t>
            </a:r>
          </a:p>
          <a:p>
            <a:r>
              <a:rPr lang="en-US" dirty="0"/>
              <a:t>Skills Shortage.</a:t>
            </a:r>
          </a:p>
          <a:p>
            <a:r>
              <a:rPr lang="en-US" dirty="0"/>
              <a:t>Don’t block critical path.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CFCF9-061B-A929-422F-4AD93E4B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82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FA71-9168-74CB-C320-73337A49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8BA08-01AD-E0E0-192E-DD7ECEF2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had a working, just very flimsy version.</a:t>
            </a:r>
          </a:p>
          <a:p>
            <a:r>
              <a:rPr lang="en-US" dirty="0"/>
              <a:t>Use this for hardware testing.</a:t>
            </a:r>
          </a:p>
          <a:p>
            <a:r>
              <a:rPr lang="en-US" dirty="0"/>
              <a:t>Skills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3797A-7FE0-ABCD-6A62-2810DB280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49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5F2B-7A3B-013D-697A-D9C788C1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going to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6D1D-89A7-D23C-4CC4-9A3E7D693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Us, of course.</a:t>
            </a:r>
          </a:p>
          <a:p>
            <a:r>
              <a:rPr lang="en-US" dirty="0"/>
              <a:t>Us, two juniors and a web-scale developer with zero experience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36477-70E1-C3CC-12F8-F674A3450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22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1205-DC55-5E58-B168-1506A651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Dunning-Kruger my old friend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FA87-BDB9-7F0C-CA7D-2DED9CB1E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first estimated we could do this in about 3 months.</a:t>
            </a:r>
          </a:p>
          <a:p>
            <a:r>
              <a:rPr lang="en-US" dirty="0"/>
              <a:t>Our first working alternative took about 6… oops.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13CBB-D76E-3B7C-D75C-C731C5EA9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6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7308-AAB6-B706-E507-2B0C0135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of Dunning Kruger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FC50-5B72-215F-E68B-D183CE69E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5010-D41E-B058-3692-697569E7C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YENA">
      <a:dk1>
        <a:srgbClr val="041E3B"/>
      </a:dk1>
      <a:lt1>
        <a:srgbClr val="FFFFFF"/>
      </a:lt1>
      <a:dk2>
        <a:srgbClr val="041E3B"/>
      </a:dk2>
      <a:lt2>
        <a:srgbClr val="92C5EB"/>
      </a:lt2>
      <a:accent1>
        <a:srgbClr val="2699CD"/>
      </a:accent1>
      <a:accent2>
        <a:srgbClr val="A7A9AC"/>
      </a:accent2>
      <a:accent3>
        <a:srgbClr val="041E3B"/>
      </a:accent3>
      <a:accent4>
        <a:srgbClr val="999999"/>
      </a:accent4>
      <a:accent5>
        <a:srgbClr val="0083CD"/>
      </a:accent5>
      <a:accent6>
        <a:srgbClr val="003981"/>
      </a:accent6>
      <a:hlink>
        <a:srgbClr val="2699CD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E405C7E7-E1B5-DD42-8942-D46864D643B2}" vid="{A9433DFD-EED8-024F-A051-7B0303687C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ABBC41DB284D4AA9A564D4936243A4" ma:contentTypeVersion="10" ma:contentTypeDescription="Create a new document." ma:contentTypeScope="" ma:versionID="f3d0c97be197659e0fbf45be14ff19f7">
  <xsd:schema xmlns:xsd="http://www.w3.org/2001/XMLSchema" xmlns:xs="http://www.w3.org/2001/XMLSchema" xmlns:p="http://schemas.microsoft.com/office/2006/metadata/properties" xmlns:ns2="2ce3f65b-a440-44fc-b359-623bc8031d7f" xmlns:ns3="a35618ab-0886-4825-b12b-453b0fa4c1c2" targetNamespace="http://schemas.microsoft.com/office/2006/metadata/properties" ma:root="true" ma:fieldsID="f90176ce7b58b70318a20115648e482d" ns2:_="" ns3:_="">
    <xsd:import namespace="2ce3f65b-a440-44fc-b359-623bc8031d7f"/>
    <xsd:import namespace="a35618ab-0886-4825-b12b-453b0fa4c1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3f65b-a440-44fc-b359-623bc8031d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71700a9-9f8f-4098-877b-b7b3c4d3d4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618ab-0886-4825-b12b-453b0fa4c1c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1e8e11e-46d7-407e-b4c2-0557d2fbf00e}" ma:internalName="TaxCatchAll" ma:showField="CatchAllData" ma:web="a35618ab-0886-4825-b12b-453b0fa4c1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e3f65b-a440-44fc-b359-623bc8031d7f">
      <Terms xmlns="http://schemas.microsoft.com/office/infopath/2007/PartnerControls"/>
    </lcf76f155ced4ddcb4097134ff3c332f>
    <TaxCatchAll xmlns="a35618ab-0886-4825-b12b-453b0fa4c1c2" xsi:nil="true"/>
  </documentManagement>
</p:properties>
</file>

<file path=customXml/itemProps1.xml><?xml version="1.0" encoding="utf-8"?>
<ds:datastoreItem xmlns:ds="http://schemas.openxmlformats.org/officeDocument/2006/customXml" ds:itemID="{8901D088-D3A6-4838-B927-FBC520DE5B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e3f65b-a440-44fc-b359-623bc8031d7f"/>
    <ds:schemaRef ds:uri="a35618ab-0886-4825-b12b-453b0fa4c1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2BFA56-EC62-47C1-99A3-95754EA42E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3BBE98-0C10-4CB2-B80B-4F79840A1265}">
  <ds:schemaRefs>
    <ds:schemaRef ds:uri="http://www.w3.org/XML/1998/namespace"/>
    <ds:schemaRef ds:uri="2ce3f65b-a440-44fc-b359-623bc8031d7f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35618ab-0886-4825-b12b-453b0fa4c1c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HYENA - v2.7</Template>
  <TotalTime>2998</TotalTime>
  <Words>722</Words>
  <Application>Microsoft Macintosh PowerPoint</Application>
  <PresentationFormat>Widescreen</PresentationFormat>
  <Paragraphs>153</Paragraphs>
  <Slides>36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Comic Sans MS</vt:lpstr>
      <vt:lpstr>Office Theme</vt:lpstr>
      <vt:lpstr>I’m not paying for HTTP.</vt:lpstr>
      <vt:lpstr>PowerPoint Presentation</vt:lpstr>
      <vt:lpstr>Who am I?</vt:lpstr>
      <vt:lpstr>&lt;Fluff Slide About Me&gt;</vt:lpstr>
      <vt:lpstr>HYENA</vt:lpstr>
      <vt:lpstr>HYENA</vt:lpstr>
      <vt:lpstr>HYENA</vt:lpstr>
      <vt:lpstr>HYENA</vt:lpstr>
      <vt:lpstr>Industrial Automation</vt:lpstr>
      <vt:lpstr>Industrial Automation</vt:lpstr>
      <vt:lpstr>Like Telescopes</vt:lpstr>
      <vt:lpstr>Like Dams</vt:lpstr>
      <vt:lpstr>Like Generators</vt:lpstr>
      <vt:lpstr>Hardware Vendors</vt:lpstr>
      <vt:lpstr>Variety!</vt:lpstr>
      <vt:lpstr>Care to Share (Your source)?</vt:lpstr>
      <vt:lpstr>Disclaimer</vt:lpstr>
      <vt:lpstr>The Good</vt:lpstr>
      <vt:lpstr>The Bad</vt:lpstr>
      <vt:lpstr>The Ugly</vt:lpstr>
      <vt:lpstr>The Really Ugly</vt:lpstr>
      <vt:lpstr>Put a price tag on this.</vt:lpstr>
      <vt:lpstr>Why this is… ok (sort of)</vt:lpstr>
      <vt:lpstr>Insert Clippy telling you to fuck off.</vt:lpstr>
      <vt:lpstr>Why this is… ok (sort of)</vt:lpstr>
      <vt:lpstr>Licenses, Licenses, Licenses</vt:lpstr>
      <vt:lpstr>Hotel California.</vt:lpstr>
      <vt:lpstr>Walled Garden</vt:lpstr>
      <vt:lpstr>What now?</vt:lpstr>
      <vt:lpstr>We need a rewrite!</vt:lpstr>
      <vt:lpstr>What do we rewrite?</vt:lpstr>
      <vt:lpstr>How to Justify this?</vt:lpstr>
      <vt:lpstr>Justification</vt:lpstr>
      <vt:lpstr>Who is going to do this?</vt:lpstr>
      <vt:lpstr>Hello Dunning-Kruger my old friend</vt:lpstr>
      <vt:lpstr>Picture of Dunning Kruger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Warren Fletcher</dc:creator>
  <cp:keywords>Hydrogen, Energy, HYENA</cp:keywords>
  <dc:description/>
  <cp:lastModifiedBy>Warren Fletcher</cp:lastModifiedBy>
  <cp:revision>31</cp:revision>
  <cp:lastPrinted>2019-10-22T12:40:42Z</cp:lastPrinted>
  <dcterms:created xsi:type="dcterms:W3CDTF">2026-01-09T07:12:16Z</dcterms:created>
  <dcterms:modified xsi:type="dcterms:W3CDTF">2026-05-04T09:53:54Z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32100</vt:r8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SIP_Label_defa4170-0d19-0005-0004-bc88714345d2_Enabled">
    <vt:lpwstr>true</vt:lpwstr>
  </property>
  <property fmtid="{D5CDD505-2E9C-101B-9397-08002B2CF9AE}" pid="12" name="MSIP_Label_defa4170-0d19-0005-0004-bc88714345d2_SetDate">
    <vt:lpwstr>2022-11-10T10:49:11Z</vt:lpwstr>
  </property>
  <property fmtid="{D5CDD505-2E9C-101B-9397-08002B2CF9AE}" pid="13" name="MSIP_Label_defa4170-0d19-0005-0004-bc88714345d2_Method">
    <vt:lpwstr>Standard</vt:lpwstr>
  </property>
  <property fmtid="{D5CDD505-2E9C-101B-9397-08002B2CF9AE}" pid="14" name="MSIP_Label_defa4170-0d19-0005-0004-bc88714345d2_Name">
    <vt:lpwstr>defa4170-0d19-0005-0004-bc88714345d2</vt:lpwstr>
  </property>
  <property fmtid="{D5CDD505-2E9C-101B-9397-08002B2CF9AE}" pid="15" name="MSIP_Label_defa4170-0d19-0005-0004-bc88714345d2_SiteId">
    <vt:lpwstr>54c07828-9dd5-4409-941f-28aaf684a1f2</vt:lpwstr>
  </property>
  <property fmtid="{D5CDD505-2E9C-101B-9397-08002B2CF9AE}" pid="16" name="MSIP_Label_defa4170-0d19-0005-0004-bc88714345d2_ActionId">
    <vt:lpwstr>d51c7274-3f60-4064-a653-2a16d5915353</vt:lpwstr>
  </property>
  <property fmtid="{D5CDD505-2E9C-101B-9397-08002B2CF9AE}" pid="17" name="MSIP_Label_defa4170-0d19-0005-0004-bc88714345d2_ContentBits">
    <vt:lpwstr>0</vt:lpwstr>
  </property>
  <property fmtid="{D5CDD505-2E9C-101B-9397-08002B2CF9AE}" pid="18" name="MediaServiceImageTags">
    <vt:lpwstr/>
  </property>
  <property fmtid="{D5CDD505-2E9C-101B-9397-08002B2CF9AE}" pid="19" name="ContentTypeId">
    <vt:lpwstr>0x01010046ABBC41DB284D4AA9A564D4936243A4</vt:lpwstr>
  </property>
</Properties>
</file>