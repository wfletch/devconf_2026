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43"/>
  </p:notesMasterIdLst>
  <p:sldIdLst>
    <p:sldId id="256" r:id="rId5"/>
    <p:sldId id="289" r:id="rId6"/>
    <p:sldId id="290" r:id="rId7"/>
    <p:sldId id="291" r:id="rId8"/>
    <p:sldId id="258" r:id="rId9"/>
    <p:sldId id="259" r:id="rId10"/>
    <p:sldId id="260" r:id="rId11"/>
    <p:sldId id="292" r:id="rId12"/>
    <p:sldId id="265" r:id="rId13"/>
    <p:sldId id="264" r:id="rId14"/>
    <p:sldId id="266" r:id="rId15"/>
    <p:sldId id="267" r:id="rId16"/>
    <p:sldId id="288" r:id="rId17"/>
    <p:sldId id="293" r:id="rId18"/>
    <p:sldId id="294" r:id="rId19"/>
    <p:sldId id="268" r:id="rId20"/>
    <p:sldId id="269" r:id="rId21"/>
    <p:sldId id="270" r:id="rId22"/>
    <p:sldId id="257" r:id="rId23"/>
    <p:sldId id="261" r:id="rId24"/>
    <p:sldId id="271" r:id="rId25"/>
    <p:sldId id="272" r:id="rId26"/>
    <p:sldId id="262" r:id="rId27"/>
    <p:sldId id="263" r:id="rId28"/>
    <p:sldId id="274" r:id="rId29"/>
    <p:sldId id="286" r:id="rId30"/>
    <p:sldId id="287" r:id="rId31"/>
    <p:sldId id="273" r:id="rId32"/>
    <p:sldId id="275" r:id="rId33"/>
    <p:sldId id="276" r:id="rId34"/>
    <p:sldId id="277" r:id="rId35"/>
    <p:sldId id="278" r:id="rId36"/>
    <p:sldId id="284" r:id="rId37"/>
    <p:sldId id="279" r:id="rId38"/>
    <p:sldId id="280" r:id="rId39"/>
    <p:sldId id="281" r:id="rId40"/>
    <p:sldId id="282" r:id="rId41"/>
    <p:sldId id="283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70" autoAdjust="0"/>
    <p:restoredTop sz="96298"/>
  </p:normalViewPr>
  <p:slideViewPr>
    <p:cSldViewPr snapToGrid="0" snapToObjects="1">
      <p:cViewPr varScale="1">
        <p:scale>
          <a:sx n="156" d="100"/>
          <a:sy n="156" d="100"/>
        </p:scale>
        <p:origin x="184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theme" Target="theme/theme1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02EEBA-E5AB-B949-AAD0-C27417493460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18198-40F7-7648-AA02-D9DB717E96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977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I’m Pretty.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918198-40F7-7648-AA02-D9DB717E96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674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359426"/>
            <a:ext cx="9144000" cy="137629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3060" y="719592"/>
            <a:ext cx="3468757" cy="138750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/>
          <p:nvPr userDrawn="1"/>
        </p:nvCxnSpPr>
        <p:spPr>
          <a:xfrm>
            <a:off x="1524000" y="3227800"/>
            <a:ext cx="1477617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2238719"/>
            <a:ext cx="10515600" cy="98908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F46E869-2120-214B-90FB-0C1F20D3D2D9}"/>
              </a:ext>
            </a:extLst>
          </p:cNvPr>
          <p:cNvSpPr/>
          <p:nvPr userDrawn="1"/>
        </p:nvSpPr>
        <p:spPr>
          <a:xfrm>
            <a:off x="0" y="397565"/>
            <a:ext cx="665922" cy="115293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29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986B-9314-744C-BE16-113191E938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83134-15BE-A546-B895-5BB473445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Picture 6" descr="A picture containing clock&#10;&#10;Description automatically generated">
            <a:extLst>
              <a:ext uri="{FF2B5EF4-FFF2-40B4-BE49-F238E27FC236}">
                <a16:creationId xmlns:a16="http://schemas.microsoft.com/office/drawing/2014/main" id="{3BC437F9-AC86-0540-9A0A-918D548648C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795753" y="6356350"/>
            <a:ext cx="1558047" cy="3462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B11CC4-8B62-7746-AFD2-B61A06551784}"/>
              </a:ext>
            </a:extLst>
          </p:cNvPr>
          <p:cNvSpPr txBox="1"/>
          <p:nvPr userDrawn="1"/>
        </p:nvSpPr>
        <p:spPr>
          <a:xfrm>
            <a:off x="0" y="6611779"/>
            <a:ext cx="168988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2"/>
                </a:solidFill>
                <a:latin typeface=""/>
              </a:rPr>
              <a:t>Copyright © 2024 HYENA 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A185E44-0C09-14A0-E3D9-47913D6DFE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82400" y="6483355"/>
            <a:ext cx="502965" cy="365125"/>
          </a:xfrm>
          <a:prstGeom prst="rect">
            <a:avLst/>
          </a:prstGeom>
        </p:spPr>
        <p:txBody>
          <a:bodyPr anchor="ctr"/>
          <a:lstStyle>
            <a:lvl1pPr algn="r">
              <a:defRPr sz="1200">
                <a:solidFill>
                  <a:schemeClr val="accent2"/>
                </a:solidFill>
              </a:defRPr>
            </a:lvl1pPr>
          </a:lstStyle>
          <a:p>
            <a:fld id="{FA19DD11-D068-0E4A-8D95-134F79C17C0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365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2004926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10242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781896" y="2004926"/>
            <a:ext cx="3095990" cy="1238396"/>
          </a:xfrm>
          <a:prstGeom prst="rect">
            <a:avLst/>
          </a:prstGeom>
        </p:spPr>
      </p:pic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384" y="1632694"/>
            <a:ext cx="7644713" cy="857449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7" name="Picture 6" descr="A black sign with white text&#10;&#10;Description automatically generated">
            <a:extLst>
              <a:ext uri="{FF2B5EF4-FFF2-40B4-BE49-F238E27FC236}">
                <a16:creationId xmlns:a16="http://schemas.microsoft.com/office/drawing/2014/main" id="{DD5F8470-FE18-4D4D-96A1-82AD7AB0A0E3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0301" y="486131"/>
            <a:ext cx="5603429" cy="1068998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B944D2B7-5F46-9E43-9FE9-7CB1A51022B9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0659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851508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851508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620970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854290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2725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F31EDEE-5EE6-634D-BE84-419A6C803FC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079157" y="1595221"/>
            <a:ext cx="4506097" cy="632200"/>
          </a:xfrm>
        </p:spPr>
        <p:txBody>
          <a:bodyPr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Hydrogen Energy Applications (Pty) Ltd</a:t>
            </a:r>
            <a:br>
              <a:rPr lang="en-GB" dirty="0"/>
            </a:br>
            <a:r>
              <a:rPr lang="en-GB" dirty="0"/>
              <a:t>Cape Town, South Africa</a:t>
            </a:r>
          </a:p>
        </p:txBody>
      </p:sp>
      <p:pic>
        <p:nvPicPr>
          <p:cNvPr id="8" name="Picture 7" descr="A close up of a sign&#10;&#10;Description automatically generated">
            <a:extLst>
              <a:ext uri="{FF2B5EF4-FFF2-40B4-BE49-F238E27FC236}">
                <a16:creationId xmlns:a16="http://schemas.microsoft.com/office/drawing/2014/main" id="{6BD0C780-0AEC-5B4A-851B-3D12FCD0BEE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59329" y="1672566"/>
            <a:ext cx="2240320" cy="89612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62A4B-828B-614E-9FB8-BECE0816E436}"/>
              </a:ext>
            </a:extLst>
          </p:cNvPr>
          <p:cNvCxnSpPr>
            <a:cxnSpLocks/>
          </p:cNvCxnSpPr>
          <p:nvPr userDrawn="1"/>
        </p:nvCxnSpPr>
        <p:spPr>
          <a:xfrm>
            <a:off x="1190367" y="2352326"/>
            <a:ext cx="650790" cy="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itle 11">
            <a:extLst>
              <a:ext uri="{FF2B5EF4-FFF2-40B4-BE49-F238E27FC236}">
                <a16:creationId xmlns:a16="http://schemas.microsoft.com/office/drawing/2014/main" id="{32AC4EC0-DCEC-7743-B31D-BD4A7910FD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9157" y="491845"/>
            <a:ext cx="10515600" cy="989081"/>
          </a:xfrm>
        </p:spPr>
        <p:txBody>
          <a:bodyPr>
            <a:normAutofit/>
          </a:bodyPr>
          <a:lstStyle>
            <a:lvl1pPr>
              <a:defRPr sz="4000" b="1"/>
            </a:lvl1pPr>
          </a:lstStyle>
          <a:p>
            <a:r>
              <a:rPr lang="en-GB" dirty="0"/>
              <a:t>CONTACT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C2E6D18-B1BC-4047-A48F-8A8EC574B867}"/>
              </a:ext>
            </a:extLst>
          </p:cNvPr>
          <p:cNvSpPr/>
          <p:nvPr userDrawn="1"/>
        </p:nvSpPr>
        <p:spPr>
          <a:xfrm>
            <a:off x="1079157" y="2501946"/>
            <a:ext cx="4506097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b="1" dirty="0">
                <a:solidFill>
                  <a:schemeClr val="bg2"/>
                </a:solidFill>
              </a:rPr>
              <a:t>t</a:t>
            </a:r>
            <a:r>
              <a:rPr lang="en-GB" sz="1600" dirty="0">
                <a:solidFill>
                  <a:schemeClr val="bg2"/>
                </a:solidFill>
              </a:rPr>
              <a:t>    +27 (0)21 137 1581</a:t>
            </a:r>
          </a:p>
          <a:p>
            <a:r>
              <a:rPr lang="en-GB" sz="1600" b="1" dirty="0">
                <a:solidFill>
                  <a:schemeClr val="accent2"/>
                </a:solidFill>
              </a:rPr>
              <a:t>e</a:t>
            </a:r>
            <a:r>
              <a:rPr lang="en-GB" sz="1600" dirty="0">
                <a:solidFill>
                  <a:schemeClr val="accent2"/>
                </a:solidFill>
              </a:rPr>
              <a:t>    </a:t>
            </a:r>
            <a:r>
              <a:rPr lang="en-GB" sz="1600" dirty="0" err="1">
                <a:solidFill>
                  <a:schemeClr val="accent2"/>
                </a:solidFill>
              </a:rPr>
              <a:t>info@hyena.com</a:t>
            </a:r>
            <a:endParaRPr lang="en-GB" sz="1600" dirty="0">
              <a:solidFill>
                <a:schemeClr val="accent2"/>
              </a:solidFill>
            </a:endParaRPr>
          </a:p>
          <a:p>
            <a:r>
              <a:rPr lang="en-GB" sz="1600" b="1" dirty="0">
                <a:solidFill>
                  <a:schemeClr val="accent1"/>
                </a:solidFill>
              </a:rPr>
              <a:t>w</a:t>
            </a:r>
            <a:r>
              <a:rPr lang="en-GB" sz="1600" dirty="0">
                <a:solidFill>
                  <a:schemeClr val="accent1"/>
                </a:solidFill>
              </a:rPr>
              <a:t>   </a:t>
            </a:r>
            <a:r>
              <a:rPr lang="en-GB" sz="1600" dirty="0" err="1">
                <a:solidFill>
                  <a:schemeClr val="accent1"/>
                </a:solidFill>
              </a:rPr>
              <a:t>www.hyena.com</a:t>
            </a:r>
            <a:endParaRPr lang="en-US" sz="16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7382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5D7E81-4C5F-C249-A7E3-C83A54DF9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8EBD-1F69-2247-8D90-C8A36DFB53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24CF467E-D129-C34A-A3CD-CFF7DAF7C16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0" y="494886"/>
            <a:ext cx="643614" cy="956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132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61" r:id="rId5"/>
    <p:sldLayoutId id="2147483662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spc="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3AFB3FD-2D20-3405-AFBE-D99F4B0687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Breaking out of closed source.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3A31E-8C59-6255-DB79-2FBFF212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I’m not paying for HTTP.</a:t>
            </a:r>
          </a:p>
        </p:txBody>
      </p:sp>
    </p:spTree>
    <p:extLst>
      <p:ext uri="{BB962C8B-B14F-4D97-AF65-F5344CB8AC3E}">
        <p14:creationId xmlns:p14="http://schemas.microsoft.com/office/powerpoint/2010/main" val="30205650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453728-B39E-1CFD-7532-7DADBE8A6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&lt;table id=‘table’&gt;Contents&lt;/table&gt;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A2695-33E3-89CE-970A-2CA77674FE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Who Am I</a:t>
            </a:r>
          </a:p>
          <a:p>
            <a:r>
              <a:rPr lang="en-US" dirty="0"/>
              <a:t>HYENA, and what we do.</a:t>
            </a:r>
          </a:p>
          <a:p>
            <a:r>
              <a:rPr lang="en-US" dirty="0"/>
              <a:t>Hardware Interaction &amp; Industrial Automation</a:t>
            </a:r>
          </a:p>
          <a:p>
            <a:r>
              <a:rPr lang="en-US" dirty="0"/>
              <a:t>Not your normal Hardware (PLC vs PC)</a:t>
            </a:r>
          </a:p>
          <a:p>
            <a:r>
              <a:rPr lang="en-US" dirty="0"/>
              <a:t>Realtime vs </a:t>
            </a:r>
            <a:r>
              <a:rPr lang="en-US" dirty="0" err="1"/>
              <a:t>REALtime</a:t>
            </a:r>
            <a:endParaRPr lang="en-US" dirty="0"/>
          </a:p>
          <a:p>
            <a:r>
              <a:rPr lang="en-US" dirty="0" err="1"/>
              <a:t>PreemptRT</a:t>
            </a:r>
            <a:endParaRPr lang="en-US" dirty="0"/>
          </a:p>
          <a:p>
            <a:r>
              <a:rPr lang="en-US" dirty="0"/>
              <a:t>Why are we using PLCs</a:t>
            </a:r>
          </a:p>
          <a:p>
            <a:r>
              <a:rPr lang="en-US" dirty="0"/>
              <a:t>Disclaimer</a:t>
            </a:r>
          </a:p>
          <a:p>
            <a:r>
              <a:rPr lang="en-US" dirty="0"/>
              <a:t>The good, the bad and the ugly</a:t>
            </a:r>
          </a:p>
          <a:p>
            <a:r>
              <a:rPr lang="en-US" dirty="0"/>
              <a:t>Pay to Play (IO)</a:t>
            </a:r>
          </a:p>
          <a:p>
            <a:r>
              <a:rPr lang="en-US" dirty="0"/>
              <a:t>Pay to Play (Technology)</a:t>
            </a:r>
          </a:p>
          <a:p>
            <a:r>
              <a:rPr lang="en-US" dirty="0"/>
              <a:t>The Community Problem</a:t>
            </a:r>
          </a:p>
          <a:p>
            <a:r>
              <a:rPr lang="en-US" dirty="0"/>
              <a:t>Licenses, Licenses, Licenses.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E50FA-D34A-E1D3-9CB5-9E99C902E4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3340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F3D0-4EA6-01B7-DAC4-3DA199B13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&lt;table id=‘contents_2’&gt;Contents&lt;/table&gt;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B9873-D1FD-70DC-2DEC-990F352964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$75 TCP request that never was.</a:t>
            </a:r>
          </a:p>
          <a:p>
            <a:r>
              <a:rPr lang="en-US" dirty="0"/>
              <a:t>Scaling Problems.</a:t>
            </a:r>
          </a:p>
          <a:p>
            <a:r>
              <a:rPr lang="en-US" dirty="0"/>
              <a:t>Walled Garden.</a:t>
            </a:r>
          </a:p>
          <a:p>
            <a:r>
              <a:rPr lang="en-US" dirty="0"/>
              <a:t>Realtime vs Non-Realtime requirements.</a:t>
            </a:r>
          </a:p>
          <a:p>
            <a:r>
              <a:rPr lang="en-US" dirty="0"/>
              <a:t>Proposing the Split.</a:t>
            </a:r>
          </a:p>
          <a:p>
            <a:r>
              <a:rPr lang="en-US" dirty="0"/>
              <a:t>Getting Management on board.</a:t>
            </a:r>
          </a:p>
          <a:p>
            <a:r>
              <a:rPr lang="en-US" dirty="0"/>
              <a:t>Making a Compromise.</a:t>
            </a:r>
          </a:p>
          <a:p>
            <a:r>
              <a:rPr lang="en-US" dirty="0"/>
              <a:t>MQTT to our favorite cloud provider (4.2.0.69:42069)</a:t>
            </a:r>
          </a:p>
          <a:p>
            <a:r>
              <a:rPr lang="en-US" dirty="0"/>
              <a:t>Solved? Not quite.</a:t>
            </a:r>
          </a:p>
          <a:p>
            <a:r>
              <a:rPr lang="en-US" dirty="0"/>
              <a:t>Safety and Security.</a:t>
            </a:r>
          </a:p>
          <a:p>
            <a:r>
              <a:rPr lang="en-US" dirty="0"/>
              <a:t>Targeting where you make changes.</a:t>
            </a:r>
          </a:p>
          <a:p>
            <a:r>
              <a:rPr lang="en-US" dirty="0"/>
              <a:t>Results.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1D21B0-5B19-DBD9-6FA8-AEE5C7352A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7535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1D51D7-855E-9391-0F5B-F963A86AC1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&lt;table id =‘</a:t>
            </a:r>
            <a:r>
              <a:rPr lang="en-US" dirty="0" err="1"/>
              <a:t>table_iii</a:t>
            </a:r>
            <a:r>
              <a:rPr lang="en-US" dirty="0"/>
              <a:t>&gt;Contents&lt;/table&gt;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CFA70-6387-19AD-0800-461085660F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But we still have a problem</a:t>
            </a:r>
          </a:p>
          <a:p>
            <a:r>
              <a:rPr lang="en-US" dirty="0"/>
              <a:t>PLCs built for the modern era.</a:t>
            </a:r>
          </a:p>
          <a:p>
            <a:r>
              <a:rPr lang="en-US" dirty="0"/>
              <a:t>Why are there no open source versions of this?</a:t>
            </a:r>
          </a:p>
          <a:p>
            <a:r>
              <a:rPr lang="en-US" dirty="0"/>
              <a:t>Proposed Solutions.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266D20-490F-86C8-D4FF-84E19BAEA5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4188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59247-8C26-5969-6ADC-A4E242AE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are we here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4B504-4B8E-AFD0-E242-4B033CFB56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is charging you for HTTP? Just use Python AIOHTTP?</a:t>
            </a:r>
          </a:p>
          <a:p>
            <a:r>
              <a:rPr lang="en-US" dirty="0"/>
              <a:t>Yea.. well. About that.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3464F3-9393-19C9-164D-4DEF03043D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385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96421-D797-2981-AF77-26562DD7D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Who? Me?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31868-2F46-7EA1-258E-9677090584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Warren Fletcher</a:t>
            </a:r>
          </a:p>
          <a:p>
            <a:r>
              <a:rPr lang="en-US" dirty="0"/>
              <a:t>(Reformed) Web Scale Programmer ~ 10 years</a:t>
            </a:r>
          </a:p>
          <a:p>
            <a:r>
              <a:rPr lang="en-US" dirty="0" err="1"/>
              <a:t>Bsc</a:t>
            </a:r>
            <a:r>
              <a:rPr lang="en-US" dirty="0"/>
              <a:t>. in Electrical Engineering.</a:t>
            </a:r>
          </a:p>
          <a:p>
            <a:r>
              <a:rPr lang="en-US" dirty="0"/>
              <a:t>Been programming since I was small (well, smaller)</a:t>
            </a:r>
          </a:p>
          <a:p>
            <a:r>
              <a:rPr lang="en-US" dirty="0"/>
              <a:t>Staff Systems Engineer at Hydrogen Energy Applications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2DDF91-FF2A-67EA-2373-B42485A8D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8304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76CE9-538B-269A-41C7-3D290662C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EB28E4-87D6-7E35-E2C0-4E576E2CE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make diesel-generator alternatives.</a:t>
            </a:r>
          </a:p>
          <a:p>
            <a:r>
              <a:rPr lang="en-US" dirty="0"/>
              <a:t>Cleaner, Quieter, Smarter.</a:t>
            </a:r>
          </a:p>
          <a:p>
            <a:r>
              <a:rPr lang="en-US" dirty="0"/>
              <a:t>Based in </a:t>
            </a:r>
            <a:r>
              <a:rPr lang="en-ZA" dirty="0"/>
              <a:t>Muizenberg</a:t>
            </a:r>
            <a:r>
              <a:rPr lang="en-US" dirty="0"/>
              <a:t>, Cape Town, South Africa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22499-2A9E-EA1E-31CC-2BC7E9325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4653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81668-229E-4824-A9E9-C3D57DEBF7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F81C5-A565-EA8F-6E28-A6C991BA3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&lt;INSERT PHOTO OF HYENA STAFF&gt;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CD512-B424-A99D-07CB-09D724EDAB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9177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FF1794-8456-513A-C01F-874F78EFFC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68277-89B0-7E00-97AE-77A382945D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convert the hydrogen in LPG to electricity via a fuel cell.</a:t>
            </a:r>
          </a:p>
          <a:p>
            <a:r>
              <a:rPr lang="en-US" dirty="0"/>
              <a:t>Transitionary technology to the Green Hydrogen Economy</a:t>
            </a:r>
          </a:p>
          <a:p>
            <a:r>
              <a:rPr lang="en-US" dirty="0"/>
              <a:t>Build units in the 5 – 20 Kw range.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84C4DF-6B8C-6F7B-FD27-1FCB2AD1A2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102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8F77F-1BC1-ACBD-E2E1-4BA87F9C5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HYENA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2EF27-2FD3-2B8F-3006-44CFEFBC2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a ‘</a:t>
            </a:r>
            <a:r>
              <a:rPr lang="en-US" dirty="0" err="1"/>
              <a:t>hardtech</a:t>
            </a:r>
            <a:r>
              <a:rPr lang="en-US" dirty="0"/>
              <a:t>’ spinout from UCT.</a:t>
            </a:r>
          </a:p>
          <a:p>
            <a:r>
              <a:rPr lang="en-US" dirty="0"/>
              <a:t>It hurts. It itches. It burns.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1FE13-8E62-DB72-767F-FBE2569D14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744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D84C0-67ED-1165-4648-93E3C1BF9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5459E4-F49E-B916-3C28-6DB443DC7C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Computers controlling Hardware</a:t>
            </a:r>
          </a:p>
          <a:p>
            <a:r>
              <a:rPr lang="en-US" dirty="0"/>
              <a:t>Read Input -&gt; Process -&gt; Write Output</a:t>
            </a:r>
          </a:p>
          <a:p>
            <a:r>
              <a:rPr lang="en-US" dirty="0"/>
              <a:t>Everything is Async and Cyclical</a:t>
            </a:r>
          </a:p>
          <a:p>
            <a:r>
              <a:rPr lang="en-US" dirty="0"/>
              <a:t>Every cycle needs to start exactly ‘on time’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6BAABA-6FA3-FC7E-C308-769CEAAB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949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FDE82-8CDC-5F63-4404-64DB20281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Industrial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223C0-C49C-972E-FFF7-FD5C2A4132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an entire industry (268 Billion USD 2025)</a:t>
            </a:r>
          </a:p>
          <a:p>
            <a:r>
              <a:rPr lang="en-US" dirty="0"/>
              <a:t>Started in the 1980s, and well, stayed there.</a:t>
            </a:r>
          </a:p>
          <a:p>
            <a:r>
              <a:rPr lang="en-US" dirty="0"/>
              <a:t>Think…. Huge Projects.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A1D71-6C74-904D-3F99-DEA32C50B1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578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EEC9D-FB73-4C08-E398-5E4F292EC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Telescopes</a:t>
            </a:r>
          </a:p>
        </p:txBody>
      </p:sp>
      <p:pic>
        <p:nvPicPr>
          <p:cNvPr id="6" name="Content Placeholder 5" descr="A large telescope under construction&#10;&#10;AI-generated content may be incorrect.">
            <a:extLst>
              <a:ext uri="{FF2B5EF4-FFF2-40B4-BE49-F238E27FC236}">
                <a16:creationId xmlns:a16="http://schemas.microsoft.com/office/drawing/2014/main" id="{140ABB28-C06A-B0B7-1F5C-6DA8308555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50571" y="1400967"/>
            <a:ext cx="8490857" cy="47761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F8EB66-E99A-340F-1386-60E09385B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91193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5" descr="A large telescope under construction&#10;&#10;AI-generated content may be incorrect.">
            <a:extLst>
              <a:ext uri="{FF2B5EF4-FFF2-40B4-BE49-F238E27FC236}">
                <a16:creationId xmlns:a16="http://schemas.microsoft.com/office/drawing/2014/main" id="{52362143-28BF-5CC4-E1F5-A3B25AAA4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571" y="1400967"/>
            <a:ext cx="8490857" cy="47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5E5B17B-084E-E296-0F7B-3244327A0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Dams</a:t>
            </a:r>
          </a:p>
        </p:txBody>
      </p:sp>
      <p:pic>
        <p:nvPicPr>
          <p:cNvPr id="6" name="Content Placeholder 5" descr="A water flowing from a dam&#10;&#10;AI-generated content may be incorrect.">
            <a:extLst>
              <a:ext uri="{FF2B5EF4-FFF2-40B4-BE49-F238E27FC236}">
                <a16:creationId xmlns:a16="http://schemas.microsoft.com/office/drawing/2014/main" id="{D3C9C34C-8EC6-9E9C-C051-F554868594D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t="15492"/>
          <a:stretch>
            <a:fillRect/>
          </a:stretch>
        </p:blipFill>
        <p:spPr>
          <a:xfrm>
            <a:off x="1850571" y="1400967"/>
            <a:ext cx="8490858" cy="4776107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C8542F-DAB3-2790-825E-F22F89513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9709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E40AC-3677-3E09-D3C8-17EF2A297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Like Generators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E640D-7A87-2052-BE05-5DC0EF6D07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&lt;INSERT PHOTO OF SEXY POWERPOD&gt;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84473-01C8-83B1-5B01-D43CF9C926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7582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F43B7-06B6-CFA0-8B6F-96BEA50E5C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Hardware Vendors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F25188-4C42-9EBD-0242-732A9B057E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(Logos of many different kinds of vendors)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E9565-3356-C358-1644-59F3B22B09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6" name="Picture 5" descr="A green logo with a white background&#10;&#10;AI-generated content may be incorrect.">
            <a:extLst>
              <a:ext uri="{FF2B5EF4-FFF2-40B4-BE49-F238E27FC236}">
                <a16:creationId xmlns:a16="http://schemas.microsoft.com/office/drawing/2014/main" id="{60965F02-6300-3EA2-0B1B-E56D2CDCC4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254"/>
          <a:stretch>
            <a:fillRect/>
          </a:stretch>
        </p:blipFill>
        <p:spPr>
          <a:xfrm>
            <a:off x="1118507" y="2432957"/>
            <a:ext cx="4431517" cy="129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7518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49B09-9524-9E64-32EE-4FB8D4D834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Care to Share (Your source)?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93156D-8E3B-61A9-63F0-E1870BEA1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No.</a:t>
            </a:r>
          </a:p>
          <a:p>
            <a:r>
              <a:rPr lang="en-US" dirty="0"/>
              <a:t>Closed off.</a:t>
            </a:r>
          </a:p>
          <a:p>
            <a:r>
              <a:rPr lang="en-US" dirty="0"/>
              <a:t>Fragmented Community</a:t>
            </a:r>
          </a:p>
          <a:p>
            <a:r>
              <a:rPr lang="en-US" dirty="0"/>
              <a:t>Stuck in their own ways.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95DC32-A432-F9DC-AE4D-C10D09C55D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750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0ED0-F4ED-E0FC-D0EC-D8BA88279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9B1D7-806D-FD21-BA98-28D4A23F4A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…are convenient</a:t>
            </a:r>
          </a:p>
          <a:p>
            <a:r>
              <a:rPr lang="en-US" dirty="0"/>
              <a:t>…are restrictive</a:t>
            </a:r>
          </a:p>
          <a:p>
            <a:r>
              <a:rPr lang="en-US" dirty="0"/>
              <a:t>…enforce a norm (dictated by industry)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DA253B-B320-8CC7-801E-22F9B0A805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937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FA3EE-E5BD-6ABE-EC3C-F53E8847A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Disclaimer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F2DBD-A45C-2B4A-5DF2-1098E67732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&lt;3 our vendors.</a:t>
            </a:r>
          </a:p>
          <a:p>
            <a:r>
              <a:rPr lang="en-US" dirty="0"/>
              <a:t>This practice is pervasive.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9640E-9DAA-2C87-51A2-9344D0863C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9783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74BA2C-32A4-E0CA-0DC2-652FFFC7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AB5917-8937-06D2-D327-EDAF413B0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Debugging in cycles is amazing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0A42B-783C-3A53-F192-079D2B19DF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88617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914EF-6FFB-E055-B8A7-E80AFF5C5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74A380-0797-034B-FC2D-07BDCD654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 even learns this stuff?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4FE21-9862-F78C-ADEF-C7F96A0DA1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6303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DCDA5-3CC5-4B99-BD4E-C8B4FA1FD6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Ugly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806713-E18F-4E5A-CA7B-D2B214CC02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Windows Only (This is changing!)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DA699-ED20-DAB2-96EB-5A42C626DB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5238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2BAE08-7DC9-4C97-1EDB-C5159451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really Ugly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D51E3-275F-25E7-E1E3-784996E2EC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Black Box Development</a:t>
            </a:r>
          </a:p>
          <a:p>
            <a:r>
              <a:rPr lang="en-US" dirty="0"/>
              <a:t>‘</a:t>
            </a:r>
            <a:r>
              <a:rPr lang="en-US" dirty="0" err="1"/>
              <a:t>Error:Error</a:t>
            </a:r>
            <a:r>
              <a:rPr lang="en-US" dirty="0"/>
              <a:t>’</a:t>
            </a:r>
          </a:p>
          <a:p>
            <a:r>
              <a:rPr lang="en-US" dirty="0"/>
              <a:t>Perpetual BSOD Loop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CE67E-C821-63D4-E778-78704F7459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168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C9C4A-D775-AE1F-3D91-2454EDC067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 a price tag on this.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E578D-5624-1F5F-0A25-C295CE176B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E0C7FF-7DC1-A717-611A-4BBC43E098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835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D8638-5752-E552-1059-FC3508783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is… ok (sort of)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40E6C-232A-A192-9D26-702D97503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is… hard. This stuff has material costs.</a:t>
            </a:r>
          </a:p>
          <a:p>
            <a:r>
              <a:rPr lang="en-US" dirty="0"/>
              <a:t>When a project is in the Millions of USD. What’s the problem?</a:t>
            </a:r>
          </a:p>
          <a:p>
            <a:r>
              <a:rPr lang="en-US" dirty="0"/>
              <a:t>Honestly, paid software comes with a lot of social expectations that need to be enforced *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EF2CA8-8DD3-12E8-0D16-42E11F5220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9789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3D0C0-4A11-9DE3-AF34-A34EC6A271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 </a:t>
            </a:r>
            <a:r>
              <a:rPr lang="en-US" dirty="0" err="1"/>
              <a:t>Clippy</a:t>
            </a:r>
            <a:r>
              <a:rPr lang="en-US" dirty="0"/>
              <a:t> telling you to fuck off.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4C12A-2CCB-2224-79C3-4B66E15BF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6D235E-0BBE-CD1D-F1D0-B8A590799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25545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B7332-B1E8-F04D-4DF4-6B66A9D54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93B41-A0BD-194A-99BA-4E723B0B2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is… ok (sort of)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961665-E8EC-0240-970B-1DAEFF7E4C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Hardware is… hard. This stuff has material costs.</a:t>
            </a:r>
          </a:p>
          <a:p>
            <a:r>
              <a:rPr lang="en-US" dirty="0"/>
              <a:t>When a project is in the Millions of USD. What’s the problem?</a:t>
            </a:r>
          </a:p>
          <a:p>
            <a:r>
              <a:rPr lang="en-US" dirty="0"/>
              <a:t>Honestly, paid software comes with a lot of social expectations that need to be enforced *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*Windows 11 excluded.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41191E-2057-65BB-FD3B-4144CAE527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01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99810-7EB1-9C4D-2DC6-6CA09207F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Licenses, Licenses, Licenses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0A053-2BD0-9BBB-7811-6967C468B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... And this is where a line </a:t>
            </a:r>
            <a:r>
              <a:rPr lang="en-US" u="sng" dirty="0"/>
              <a:t>needs</a:t>
            </a:r>
            <a:r>
              <a:rPr lang="en-US" dirty="0"/>
              <a:t> to be drawn.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8814A2-BD3A-E3D7-B1DA-365390D22A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43250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0DF25-12E7-267A-DE86-D47ED6E5A0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Hotel California.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9078C2-093E-E547-8B47-F920FE259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It’s comfy.</a:t>
            </a:r>
          </a:p>
          <a:p>
            <a:r>
              <a:rPr lang="en-US" dirty="0"/>
              <a:t>It’s convenient.</a:t>
            </a:r>
          </a:p>
          <a:p>
            <a:r>
              <a:rPr lang="en-US" dirty="0"/>
              <a:t>And the more time you spend here, the more it’s going to cost.</a:t>
            </a:r>
          </a:p>
          <a:p>
            <a:r>
              <a:rPr lang="en-US" dirty="0"/>
              <a:t>And a lot of these costs are hidden.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741BF6-36F7-80F4-196F-B8933BEBE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442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223FD-9E43-BF8C-21C9-21BDB35A7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Walled Garden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F5B97-6984-3313-9395-2AAD23C7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is why we have so little open-source.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7E58-5446-D464-3FA7-889A2CF3F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4022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23EC9-7BFD-4BD0-328F-0EA60B60AA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C29C95-C08D-1E36-E14A-FB2E5EFA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cannot, in good faith, continue.</a:t>
            </a:r>
          </a:p>
          <a:p>
            <a:r>
              <a:rPr lang="en-US" dirty="0"/>
              <a:t>But this is ‘the way it’s done’. Pay Up. Shut up.</a:t>
            </a:r>
          </a:p>
          <a:p>
            <a:r>
              <a:rPr lang="en-US" dirty="0"/>
              <a:t>* Insert German quote here.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B0BAD-9909-CF63-CC44-356191DA60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3349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62A6E-ECC9-75BE-47D1-F18059EDB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need a rewrite!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05FC4B-BA9E-99C0-3240-7339D095EC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 you don’t*</a:t>
            </a:r>
          </a:p>
          <a:p>
            <a:r>
              <a:rPr lang="en-US" dirty="0"/>
              <a:t>You need to rewrite a part of this. But where?</a:t>
            </a:r>
          </a:p>
          <a:p>
            <a:endParaRPr lang="en-US" dirty="0"/>
          </a:p>
          <a:p>
            <a:r>
              <a:rPr lang="en-US" dirty="0"/>
              <a:t>*unless you’re windows 11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583B76-4454-C6C3-4DC2-27B549ECA5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048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8F787-5AA6-7FE4-B251-1B86C4231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do we rewrite?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A5A2E0-3B7B-C1CA-8417-67C7999B27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can’t put everything on commodity hardware.</a:t>
            </a:r>
          </a:p>
          <a:p>
            <a:r>
              <a:rPr lang="en-US" dirty="0"/>
              <a:t>We still need the Realtime control, But only for hardware IO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35F2DD-3421-F173-CFE4-6A1397972F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76057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82D6-F56E-7CE2-86E6-7B0495864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Justify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5064FA-FD05-7A9C-D961-AB6DA77545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money. Managers speak that language.</a:t>
            </a:r>
          </a:p>
          <a:p>
            <a:r>
              <a:rPr lang="en-US" dirty="0" err="1"/>
              <a:t>CapEx</a:t>
            </a:r>
            <a:r>
              <a:rPr lang="en-US" dirty="0"/>
              <a:t> cost per unit.</a:t>
            </a:r>
          </a:p>
          <a:p>
            <a:r>
              <a:rPr lang="en-US" dirty="0"/>
              <a:t>Reinventing (Many) wheels.</a:t>
            </a:r>
          </a:p>
          <a:p>
            <a:r>
              <a:rPr lang="en-US" dirty="0"/>
              <a:t>Skills Shortage.</a:t>
            </a:r>
          </a:p>
          <a:p>
            <a:r>
              <a:rPr lang="en-US" dirty="0"/>
              <a:t>Don’t block critical path.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ECFCF9-061B-A929-422F-4AD93E4B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88256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77FA71-9168-74CB-C320-73337A49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Justification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8BA08-01AD-E0E0-192E-DD7ECEF26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had a working, just very flimsy version.</a:t>
            </a:r>
          </a:p>
          <a:p>
            <a:r>
              <a:rPr lang="en-US" dirty="0"/>
              <a:t>Use this for hardware testing.</a:t>
            </a:r>
          </a:p>
          <a:p>
            <a:r>
              <a:rPr lang="en-US" dirty="0"/>
              <a:t>Skills Development.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3797A-7FE0-ABCD-6A62-2810DB280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549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505F2B-7A3B-013D-697A-D9C788C14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is going to do this?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76D1D-89A7-D23C-4CC4-9A3E7D693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Us, of course.</a:t>
            </a:r>
          </a:p>
          <a:p>
            <a:r>
              <a:rPr lang="en-US" dirty="0"/>
              <a:t>Us, two juniors and a web-scale developer with zero experience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B36477-70E1-C3CC-12F8-F674A34504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4229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1205-DC55-5E58-B168-1506A651A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Dunning-Kruger my old friend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9FA87-BDB9-7F0C-CA7D-2DED9CB1E2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 first estimated we could do this in about 3 months.</a:t>
            </a:r>
          </a:p>
          <a:p>
            <a:r>
              <a:rPr lang="en-US" dirty="0"/>
              <a:t>Our first working alternative took about 6… oops.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D13CBB-D76E-3B7C-D75C-C731C5EA9B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568684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57308-AAB6-B706-E507-2B0C0135E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Picture of Dunning Kruger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7FC50-5B72-215F-E68B-D183CE69E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075010-D41E-B058-3692-697569E7C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FA19DD11-D068-0E4A-8D95-134F79C17C0A}" type="slidenum">
              <a:rPr lang="en-US" smtClean="0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412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HYENA">
      <a:dk1>
        <a:srgbClr val="041E3B"/>
      </a:dk1>
      <a:lt1>
        <a:srgbClr val="FFFFFF"/>
      </a:lt1>
      <a:dk2>
        <a:srgbClr val="041E3B"/>
      </a:dk2>
      <a:lt2>
        <a:srgbClr val="92C5EB"/>
      </a:lt2>
      <a:accent1>
        <a:srgbClr val="2699CD"/>
      </a:accent1>
      <a:accent2>
        <a:srgbClr val="A7A9AC"/>
      </a:accent2>
      <a:accent3>
        <a:srgbClr val="041E3B"/>
      </a:accent3>
      <a:accent4>
        <a:srgbClr val="999999"/>
      </a:accent4>
      <a:accent5>
        <a:srgbClr val="0083CD"/>
      </a:accent5>
      <a:accent6>
        <a:srgbClr val="003981"/>
      </a:accent6>
      <a:hlink>
        <a:srgbClr val="2699CD"/>
      </a:hlink>
      <a:folHlink>
        <a:srgbClr val="3EBBF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E405C7E7-E1B5-DD42-8942-D46864D643B2}" vid="{A9433DFD-EED8-024F-A051-7B0303687C8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6ABBC41DB284D4AA9A564D4936243A4" ma:contentTypeVersion="10" ma:contentTypeDescription="Create a new document." ma:contentTypeScope="" ma:versionID="f3d0c97be197659e0fbf45be14ff19f7">
  <xsd:schema xmlns:xsd="http://www.w3.org/2001/XMLSchema" xmlns:xs="http://www.w3.org/2001/XMLSchema" xmlns:p="http://schemas.microsoft.com/office/2006/metadata/properties" xmlns:ns2="2ce3f65b-a440-44fc-b359-623bc8031d7f" xmlns:ns3="a35618ab-0886-4825-b12b-453b0fa4c1c2" targetNamespace="http://schemas.microsoft.com/office/2006/metadata/properties" ma:root="true" ma:fieldsID="f90176ce7b58b70318a20115648e482d" ns2:_="" ns3:_="">
    <xsd:import namespace="2ce3f65b-a440-44fc-b359-623bc8031d7f"/>
    <xsd:import namespace="a35618ab-0886-4825-b12b-453b0fa4c1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e3f65b-a440-44fc-b359-623bc8031d7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471700a9-9f8f-4098-877b-b7b3c4d3d47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5618ab-0886-4825-b12b-453b0fa4c1c2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1e8e11e-46d7-407e-b4c2-0557d2fbf00e}" ma:internalName="TaxCatchAll" ma:showField="CatchAllData" ma:web="a35618ab-0886-4825-b12b-453b0fa4c1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ce3f65b-a440-44fc-b359-623bc8031d7f">
      <Terms xmlns="http://schemas.microsoft.com/office/infopath/2007/PartnerControls"/>
    </lcf76f155ced4ddcb4097134ff3c332f>
    <TaxCatchAll xmlns="a35618ab-0886-4825-b12b-453b0fa4c1c2" xsi:nil="true"/>
  </documentManagement>
</p:properties>
</file>

<file path=customXml/itemProps1.xml><?xml version="1.0" encoding="utf-8"?>
<ds:datastoreItem xmlns:ds="http://schemas.openxmlformats.org/officeDocument/2006/customXml" ds:itemID="{F02BFA56-EC62-47C1-99A3-95754EA42EB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01D088-D3A6-4838-B927-FBC520DE5B7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e3f65b-a440-44fc-b359-623bc8031d7f"/>
    <ds:schemaRef ds:uri="a35618ab-0886-4825-b12b-453b0fa4c1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73BBE98-0C10-4CB2-B80B-4F79840A1265}">
  <ds:schemaRefs>
    <ds:schemaRef ds:uri="http://www.w3.org/XML/1998/namespace"/>
    <ds:schemaRef ds:uri="2ce3f65b-a440-44fc-b359-623bc8031d7f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schemas.microsoft.com/office/infopath/2007/PartnerControls"/>
    <ds:schemaRef ds:uri="a35618ab-0886-4825-b12b-453b0fa4c1c2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HYENA - v2.7</Template>
  <TotalTime>2833</TotalTime>
  <Words>916</Words>
  <Application>Microsoft Macintosh PowerPoint</Application>
  <PresentationFormat>Widescreen</PresentationFormat>
  <Paragraphs>184</Paragraphs>
  <Slides>38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I’m not paying for HTTP.</vt:lpstr>
      <vt:lpstr>&lt;table id=‘table’&gt;Contents&lt;/table&gt;</vt:lpstr>
      <vt:lpstr>&lt;table id=‘contents_2’&gt;Contents&lt;/table&gt;</vt:lpstr>
      <vt:lpstr>&lt;table id =‘table_iii&gt;Contents&lt;/table&gt;</vt:lpstr>
      <vt:lpstr>Why are we here</vt:lpstr>
      <vt:lpstr>Who? Me?</vt:lpstr>
      <vt:lpstr>HYENA</vt:lpstr>
      <vt:lpstr>HYENA</vt:lpstr>
      <vt:lpstr>HYENA</vt:lpstr>
      <vt:lpstr>HYENA</vt:lpstr>
      <vt:lpstr>Industrial Automation</vt:lpstr>
      <vt:lpstr>Industrial Automation</vt:lpstr>
      <vt:lpstr>Like Telescopes</vt:lpstr>
      <vt:lpstr>Like Dams</vt:lpstr>
      <vt:lpstr>Like Generators</vt:lpstr>
      <vt:lpstr>Hardware Vendors</vt:lpstr>
      <vt:lpstr>Care to Share (Your source)?</vt:lpstr>
      <vt:lpstr>Conventions</vt:lpstr>
      <vt:lpstr>Disclaimer</vt:lpstr>
      <vt:lpstr>The Good</vt:lpstr>
      <vt:lpstr>The Bad</vt:lpstr>
      <vt:lpstr>The Ugly</vt:lpstr>
      <vt:lpstr>The really Ugly</vt:lpstr>
      <vt:lpstr>Put a price tag on this.</vt:lpstr>
      <vt:lpstr>Why this is… ok (sort of)</vt:lpstr>
      <vt:lpstr>Insert Clippy telling you to fuck off.</vt:lpstr>
      <vt:lpstr>Why this is… ok (sort of)</vt:lpstr>
      <vt:lpstr>Licenses, Licenses, Licenses</vt:lpstr>
      <vt:lpstr>Hotel California.</vt:lpstr>
      <vt:lpstr>Walled Garden</vt:lpstr>
      <vt:lpstr>What now?</vt:lpstr>
      <vt:lpstr>We need a rewrite!</vt:lpstr>
      <vt:lpstr>What do we rewrite?</vt:lpstr>
      <vt:lpstr>How to Justify this?</vt:lpstr>
      <vt:lpstr>Justification</vt:lpstr>
      <vt:lpstr>Who is going to do this?</vt:lpstr>
      <vt:lpstr>Hello Dunning-Kruger my old friend</vt:lpstr>
      <vt:lpstr>Picture of Dunning Kruger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Warren Fletcher</dc:creator>
  <cp:keywords>Hydrogen, Energy, HYENA</cp:keywords>
  <dc:description/>
  <cp:lastModifiedBy>Warren Fletcher</cp:lastModifiedBy>
  <cp:revision>30</cp:revision>
  <cp:lastPrinted>2019-10-22T12:40:42Z</cp:lastPrinted>
  <dcterms:created xsi:type="dcterms:W3CDTF">2026-01-09T07:12:16Z</dcterms:created>
  <dcterms:modified xsi:type="dcterms:W3CDTF">2026-04-29T05:22:41Z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rder">
    <vt:r8>32100</vt:r8>
  </property>
  <property fmtid="{D5CDD505-2E9C-101B-9397-08002B2CF9AE}" pid="3" name="xd_Signature">
    <vt:bool>false</vt:bool>
  </property>
  <property fmtid="{D5CDD505-2E9C-101B-9397-08002B2CF9AE}" pid="4" name="xd_ProgID">
    <vt:lpwstr/>
  </property>
  <property fmtid="{D5CDD505-2E9C-101B-9397-08002B2CF9AE}" pid="5" name="_ExtendedDescription">
    <vt:lpwstr/>
  </property>
  <property fmtid="{D5CDD505-2E9C-101B-9397-08002B2CF9AE}" pid="6" name="TriggerFlowInfo">
    <vt:lpwstr/>
  </property>
  <property fmtid="{D5CDD505-2E9C-101B-9397-08002B2CF9AE}" pid="7" name="_SourceUrl">
    <vt:lpwstr/>
  </property>
  <property fmtid="{D5CDD505-2E9C-101B-9397-08002B2CF9AE}" pid="8" name="_SharedFileIndex">
    <vt:lpwstr/>
  </property>
  <property fmtid="{D5CDD505-2E9C-101B-9397-08002B2CF9AE}" pid="9" name="ComplianceAssetId">
    <vt:lpwstr/>
  </property>
  <property fmtid="{D5CDD505-2E9C-101B-9397-08002B2CF9AE}" pid="10" name="TemplateUrl">
    <vt:lpwstr/>
  </property>
  <property fmtid="{D5CDD505-2E9C-101B-9397-08002B2CF9AE}" pid="11" name="MSIP_Label_defa4170-0d19-0005-0004-bc88714345d2_Enabled">
    <vt:lpwstr>true</vt:lpwstr>
  </property>
  <property fmtid="{D5CDD505-2E9C-101B-9397-08002B2CF9AE}" pid="12" name="MSIP_Label_defa4170-0d19-0005-0004-bc88714345d2_SetDate">
    <vt:lpwstr>2022-11-10T10:49:11Z</vt:lpwstr>
  </property>
  <property fmtid="{D5CDD505-2E9C-101B-9397-08002B2CF9AE}" pid="13" name="MSIP_Label_defa4170-0d19-0005-0004-bc88714345d2_Method">
    <vt:lpwstr>Standard</vt:lpwstr>
  </property>
  <property fmtid="{D5CDD505-2E9C-101B-9397-08002B2CF9AE}" pid="14" name="MSIP_Label_defa4170-0d19-0005-0004-bc88714345d2_Name">
    <vt:lpwstr>defa4170-0d19-0005-0004-bc88714345d2</vt:lpwstr>
  </property>
  <property fmtid="{D5CDD505-2E9C-101B-9397-08002B2CF9AE}" pid="15" name="MSIP_Label_defa4170-0d19-0005-0004-bc88714345d2_SiteId">
    <vt:lpwstr>54c07828-9dd5-4409-941f-28aaf684a1f2</vt:lpwstr>
  </property>
  <property fmtid="{D5CDD505-2E9C-101B-9397-08002B2CF9AE}" pid="16" name="MSIP_Label_defa4170-0d19-0005-0004-bc88714345d2_ActionId">
    <vt:lpwstr>d51c7274-3f60-4064-a653-2a16d5915353</vt:lpwstr>
  </property>
  <property fmtid="{D5CDD505-2E9C-101B-9397-08002B2CF9AE}" pid="17" name="MSIP_Label_defa4170-0d19-0005-0004-bc88714345d2_ContentBits">
    <vt:lpwstr>0</vt:lpwstr>
  </property>
  <property fmtid="{D5CDD505-2E9C-101B-9397-08002B2CF9AE}" pid="18" name="MediaServiceImageTags">
    <vt:lpwstr/>
  </property>
  <property fmtid="{D5CDD505-2E9C-101B-9397-08002B2CF9AE}" pid="19" name="ContentTypeId">
    <vt:lpwstr>0x01010046ABBC41DB284D4AA9A564D4936243A4</vt:lpwstr>
  </property>
</Properties>
</file>